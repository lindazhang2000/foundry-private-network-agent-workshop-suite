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workshop objective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enterprise controls and audit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two capability host levels: account and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ordering prevents hard-to-debug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common preflight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exclusive subnet use for Microsoft.App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AAD auth is used for project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account-level capability host is created from this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DNS correctness proves private path 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naming consistency for connection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should be treated as non-negotiable gating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failure recovery: fix RBAC, recreate the project capability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teams to capture evidence for each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this is the final proof of end-to-end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symptom to likely root cause and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teams not to leave resources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path to production hardening and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appendix in deck for troubleshooting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200"/>
            </a:pPr>
            <a:r>
              <a:t>Private Network Azure AI Foundry Agent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Foundry Private Network Agent Workshop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Why Private Network for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Compliance and data boundary requirements</a:t>
            </a:r>
          </a:p>
          <a:p>
            <a:pPr>
              <a:defRPr sz="2000"/>
            </a:pPr>
            <a:r>
              <a:t>Private endpoint and managed identity patterns</a:t>
            </a:r>
          </a:p>
          <a:p>
            <a:pPr>
              <a:defRPr sz="2000"/>
            </a:pPr>
            <a:r>
              <a:t>Reduced attack surface</a:t>
            </a:r>
          </a:p>
        </p:txBody>
      </p:sp>
      <p:pic>
        <p:nvPicPr>
          <p:cNvPr id="4" name="Picture 3" descr="01-keynote-view-6-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532120" cy="10766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End-State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VNet with delegated subnet and PE subnet</a:t>
            </a:r>
          </a:p>
          <a:p>
            <a:pPr>
              <a:defRPr sz="2000"/>
            </a:pPr>
            <a:r>
              <a:t>AI Services account + model deployment</a:t>
            </a:r>
          </a:p>
          <a:p>
            <a:pPr>
              <a:defRPr sz="2000"/>
            </a:pPr>
            <a:r>
              <a:t>Project capability host linked to Search, Storage, Cosmos</a:t>
            </a:r>
          </a:p>
        </p:txBody>
      </p:sp>
      <p:pic>
        <p:nvPicPr>
          <p:cNvPr id="4" name="Picture 3" descr="02-executive-view-slide-friend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532120" cy="21327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Deployment Flow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Ordered sequence from RG to agent test</a:t>
            </a:r>
          </a:p>
          <a:p>
            <a:pPr>
              <a:defRPr sz="2000"/>
            </a:pPr>
            <a:r>
              <a:t>Highlight critical dependency points</a:t>
            </a:r>
          </a:p>
        </p:txBody>
      </p:sp>
      <p:pic>
        <p:nvPicPr>
          <p:cNvPr id="4" name="Picture 3" descr="03-technical-view-implementatio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532120" cy="24729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Prerequisites and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Required roles and permissions</a:t>
            </a:r>
          </a:p>
          <a:p>
            <a:pPr>
              <a:defRPr sz="2000"/>
            </a:pPr>
            <a:r>
              <a:t>Supported regions and quota checks</a:t>
            </a:r>
          </a:p>
          <a:p>
            <a:pPr>
              <a:defRPr sz="2000"/>
            </a:pPr>
            <a:r>
              <a:t>CLI and tooling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Networking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Address spaces and subnet purposes</a:t>
            </a:r>
          </a:p>
          <a:p>
            <a:pPr>
              <a:defRPr sz="2000"/>
            </a:pPr>
            <a:r>
              <a:t>Delegation requirement for agent-subnet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Backing Services Security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Search, Storage, Cosmos DB hardened settings</a:t>
            </a:r>
          </a:p>
          <a:p>
            <a:pPr>
              <a:defRPr sz="2000"/>
            </a:pPr>
            <a:r>
              <a:t>Public network access disabled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Creating AI Services Account via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Why REST is used (preview API and network injection)</a:t>
            </a:r>
          </a:p>
          <a:p>
            <a:pPr>
              <a:defRPr sz="2000"/>
            </a:pPr>
            <a:r>
              <a:t>Minimal required payload fields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Private Endpoints and Private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Required endpoints and DNS zones</a:t>
            </a:r>
          </a:p>
          <a:p>
            <a:pPr>
              <a:defRPr sz="2000"/>
            </a:pPr>
            <a:r>
              <a:t>Zone links and A record validation</a:t>
            </a:r>
          </a:p>
        </p:txBody>
      </p:sp>
      <p:pic>
        <p:nvPicPr>
          <p:cNvPr id="4" name="Picture 3" descr="04-private-endpoint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532120" cy="18316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Foundry Project and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Project identity creation</a:t>
            </a:r>
          </a:p>
          <a:p>
            <a:pPr>
              <a:defRPr sz="2000"/>
            </a:pPr>
            <a:r>
              <a:t>Connection categories and targets</a:t>
            </a:r>
          </a:p>
          <a:p>
            <a:pPr>
              <a:defRPr sz="2000"/>
            </a:pPr>
            <a:r>
              <a:t>AAD auth-only configuration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RBAC Before Capability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Storage and Cosmos roles</a:t>
            </a:r>
          </a:p>
          <a:p>
            <a:pPr>
              <a:defRPr sz="2000"/>
            </a:pPr>
            <a:r>
              <a:t>Search roles</a:t>
            </a:r>
          </a:p>
          <a:p>
            <a:pPr>
              <a:defRPr sz="2000"/>
            </a:pPr>
            <a:r>
              <a:t>Propagation wait requirement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Project Capability Host (Most Critical)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Capability host payload fields</a:t>
            </a:r>
          </a:p>
          <a:p>
            <a:pPr>
              <a:defRPr sz="2000"/>
            </a:pPr>
            <a:r>
              <a:t>Async operation and polling pattern</a:t>
            </a:r>
          </a:p>
          <a:p>
            <a:pPr>
              <a:defRPr sz="2000"/>
            </a:pPr>
            <a:r>
              <a:t>Success and failure states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Verification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Capability host status checks</a:t>
            </a:r>
          </a:p>
          <a:p>
            <a:pPr>
              <a:defRPr sz="2000"/>
            </a:pPr>
            <a:r>
              <a:t>Connection checks</a:t>
            </a:r>
          </a:p>
          <a:p>
            <a:pPr>
              <a:defRPr sz="2000"/>
            </a:pPr>
            <a:r>
              <a:t>Private endpoint and DNS checks</a:t>
            </a:r>
          </a:p>
          <a:p>
            <a:pPr>
              <a:defRPr sz="2000"/>
            </a:pPr>
            <a:r>
              <a:t>Model deployment check</a:t>
            </a:r>
          </a:p>
        </p:txBody>
      </p:sp>
      <p:pic>
        <p:nvPicPr>
          <p:cNvPr id="4" name="Picture 3" descr="05-final-validation-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532120" cy="20592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Agent Creation and Tool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Portal access path (inside private network)</a:t>
            </a:r>
          </a:p>
          <a:p>
            <a:pPr>
              <a:defRPr sz="2000"/>
            </a:pPr>
            <a:r>
              <a:t>Add Search tool from project connection</a:t>
            </a:r>
          </a:p>
          <a:p>
            <a:pPr>
              <a:defRPr sz="2000"/>
            </a:pPr>
            <a:r>
              <a:t>Run test prompt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Troubleshooting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Invalid endpoint or connection failed</a:t>
            </a:r>
          </a:p>
          <a:p>
            <a:pPr>
              <a:defRPr sz="2000"/>
            </a:pPr>
            <a:r>
              <a:t>Capability host failed provisioning</a:t>
            </a:r>
          </a:p>
          <a:p>
            <a:pPr>
              <a:defRPr sz="2000"/>
            </a:pPr>
            <a:r>
              <a:t>Embedding permission denied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Cleanup and Cost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Delete project capability host first</a:t>
            </a:r>
          </a:p>
          <a:p>
            <a:pPr>
              <a:defRPr sz="2000"/>
            </a:pPr>
            <a:r>
              <a:t>Delete resource group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Recap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What was built</a:t>
            </a:r>
          </a:p>
          <a:p>
            <a:pPr>
              <a:defRPr sz="2000"/>
            </a:pPr>
            <a:r>
              <a:t>Why sequence and RBAC matter</a:t>
            </a:r>
          </a:p>
          <a:p>
            <a:pPr>
              <a:defRPr sz="2000"/>
            </a:pPr>
            <a:r>
              <a:t>Next-step options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5577840" cy="4937760"/>
          </a:xfrm>
        </p:spPr>
        <p:txBody>
          <a:bodyPr/>
          <a:lstStyle/>
          <a:p>
            <a:pPr>
              <a:defRPr sz="2000"/>
            </a:pPr>
            <a:r>
              <a:t>Command references</a:t>
            </a:r>
          </a:p>
          <a:p>
            <a:pPr>
              <a:defRPr sz="2000"/>
            </a:pPr>
            <a:r>
              <a:t>API versions used</a:t>
            </a:r>
          </a:p>
          <a:p>
            <a:pPr>
              <a:defRPr sz="2000"/>
            </a:pPr>
            <a:r>
              <a:t>Role matrix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